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A5C"/>
                </a:solidFill>
              </a:defRPr>
            </a:pPr>
            <a:r>
              <a:t>DeepPEF - PEM Architecture</a:t>
            </a:r>
          </a:p>
          <a:p>
            <a:pPr algn="ctr">
              <a:defRPr sz="1800">
                <a:solidFill>
                  <a:srgbClr val="555555"/>
                </a:solidFill>
              </a:defRPr>
            </a:pPr>
            <a:r>
              <a:t>Protein Energy Model for Mutation Stability Prediction (ddG)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What Does Our Model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Goal: Predict how a mutation changes protein stability (ddG)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Input:  Protein 3D structure (PDB) + Amino acid sequence + Mutation info</a:t>
            </a:r>
          </a:p>
          <a:p>
            <a:pPr>
              <a:defRPr sz="1400"/>
            </a:pPr>
            <a:r>
              <a:t>Output: ddG = change in folding free energy upon mutation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Key Idea: Build a GRAPH of the protein, process it with a GNN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Each residue = a node in the graph</a:t>
            </a:r>
          </a:p>
          <a:p>
            <a:pPr>
              <a:defRPr sz="1400"/>
            </a:pPr>
            <a:r>
              <a:t>Edges connect spatially close residues (k-NN, k=30, within 12 Angstroms)</a:t>
            </a:r>
          </a:p>
          <a:p>
            <a:pPr>
              <a:defRPr sz="1400"/>
            </a:pPr>
            <a:r>
              <a:t>Node features = distance geometry + PLM embeddings + amino acid identity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The Thermodynamic Framework: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For each mutation:</a:t>
            </a:r>
          </a:p>
          <a:p>
            <a:pPr>
              <a:defRPr sz="1400"/>
            </a:pPr>
            <a:r>
              <a:t>  1. Compute E_folded (energy of the folded/native structure)</a:t>
            </a:r>
          </a:p>
          <a:p>
            <a:pPr>
              <a:defRPr sz="1400"/>
            </a:pPr>
            <a:r>
              <a:t>  2. Compute E_unfolded (energy of the extended/unfolded conformation)</a:t>
            </a:r>
          </a:p>
          <a:p>
            <a:pPr>
              <a:defRPr sz="1400"/>
            </a:pPr>
            <a:r>
              <a:t>  3. dG = E_unfolded - E_folded</a:t>
            </a:r>
          </a:p>
          <a:p>
            <a:pPr>
              <a:defRPr sz="1400"/>
            </a:pPr>
            <a:r>
              <a:t>  4. ddG = dG(mutant) - dG(wildtype)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Problem: This requires 400 forward passes per protein (expensive!)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Step 1: Input Data (Per Protein Folder)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Each protein has a folder with pre-computed tensors: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coords_tensor.pt     [seq_len, 4, 3]      4 backbone atoms (N,CA,C,CB) x 3D</a:t>
            </a:r>
          </a:p>
          <a:p>
            <a:pPr>
              <a:defRPr sz="1400"/>
            </a:pPr>
            <a:r>
              <a:t>mask_tensor.pt       [seq_len]             Which residues are real (not padding)</a:t>
            </a:r>
          </a:p>
          <a:p>
            <a:pPr>
              <a:defRPr sz="1400"/>
            </a:pPr>
            <a:r>
              <a:t>one_hot_encodings.pt [n_muts+1, L, 21]    AA identity (idx 0=WT, 1..N=mutants)</a:t>
            </a:r>
          </a:p>
          <a:p>
            <a:pPr>
              <a:defRPr sz="1400"/>
            </a:pPr>
            <a:r>
              <a:t>emb.pt              [n_muts+1, L, 1024]    ProtT5 embeddings (idx 0=WT, 1..N=muts)</a:t>
            </a:r>
          </a:p>
          <a:p>
            <a:pPr>
              <a:defRPr sz="1400"/>
            </a:pPr>
            <a:r>
              <a:t>esmif_enc.pt         [L, 512]             ESM-IF1 structural features (all muts same)</a:t>
            </a:r>
          </a:p>
          <a:p>
            <a:pPr>
              <a:defRPr sz="1400"/>
            </a:pPr>
            <a:r>
              <a:t>deltaG.pt           [n_muts+1]             Experimental stability (kcal/mol)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Embedding Types Available: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ProtT5:      1024-dim per residue (sequence-based, language model)</a:t>
            </a:r>
          </a:p>
          <a:p>
            <a:pPr>
              <a:defRPr sz="1400"/>
            </a:pPr>
            <a:r>
              <a:t>ESM-IF1:     512-dim per residue (structure-based, inverse folding)</a:t>
            </a:r>
          </a:p>
          <a:p>
            <a:pPr>
              <a:defRPr sz="1400"/>
            </a:pPr>
            <a:r>
              <a:t>Dual:        1024+512 = 1536-dim (concatenated)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Key: Each MUTATION gets its own embedding!</a:t>
            </a:r>
          </a:p>
          <a:p>
            <a:pPr>
              <a:defRPr sz="1400"/>
            </a:pPr>
            <a:r>
              <a:t>  WT = embedding[0], mutation A32G = embedding[1], etc.</a:t>
            </a:r>
          </a:p>
          <a:p>
            <a:pPr>
              <a:defRPr sz="1400"/>
            </a:pPr>
            <a:r>
              <a:t>  This means we need a SEPARATE forward pass for each mutation.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Data: 340 train proteins, ~200 mutations each = ~68,000 total</a:t>
            </a: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Test: 28 proteins (ThermoMPNN benchmark)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Step 2: Graph Construction (get_graph)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0080"/>
            <a:ext cx="1179576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For ONE mutation, build a protein graph: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Input: coords [L, 4, 3] + one_hot [L, 20] + embedding [L, 1024] + mask [L]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Step A: Pairwise Atom Distances</a:t>
            </a:r>
          </a:p>
          <a:p>
            <a:pPr>
              <a:defRPr sz="1100">
                <a:latin typeface="Consolas"/>
              </a:defRPr>
            </a:pPr>
            <a:r>
              <a:t>  ================================</a:t>
            </a:r>
          </a:p>
          <a:p>
            <a:pPr>
              <a:defRPr sz="1100">
                <a:latin typeface="Consolas"/>
              </a:defRPr>
            </a:pPr>
            <a:r>
              <a:t>  For each pair of residues (i, j):</a:t>
            </a:r>
          </a:p>
          <a:p>
            <a:pPr>
              <a:defRPr sz="1100">
                <a:latin typeface="Consolas"/>
              </a:defRPr>
            </a:pPr>
            <a:r>
              <a:t>    4 atoms x 4 atoms = 16 distances</a:t>
            </a:r>
          </a:p>
          <a:p>
            <a:pPr>
              <a:defRPr sz="1100">
                <a:latin typeface="Consolas"/>
              </a:defRPr>
            </a:pPr>
            <a:r>
              <a:t>    D[i,j] = [d(Ni,Nj), d(Ni,CAj), d(Ni,Cj), d(Ni,CBj), ...]</a:t>
            </a:r>
          </a:p>
          <a:p>
            <a:pPr>
              <a:defRPr sz="1100">
                <a:latin typeface="Consolas"/>
              </a:defRPr>
            </a:pPr>
            <a:r>
              <a:t>    Shape: [L, L, 16]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Step B: Gaussian Kernel</a:t>
            </a:r>
          </a:p>
          <a:p>
            <a:pPr>
              <a:defRPr sz="1100">
                <a:latin typeface="Consolas"/>
              </a:defRPr>
            </a:pPr>
            <a:r>
              <a:t>  ========================</a:t>
            </a:r>
          </a:p>
          <a:p>
            <a:pPr>
              <a:defRPr sz="1100">
                <a:latin typeface="Consolas"/>
              </a:defRPr>
            </a:pPr>
            <a:r>
              <a:t>    D_gauss = exp(-0.08 * D^2)</a:t>
            </a:r>
          </a:p>
          <a:p>
            <a:pPr>
              <a:defRPr sz="1100">
                <a:latin typeface="Consolas"/>
              </a:defRPr>
            </a:pPr>
            <a:r>
              <a:t>    Close atoms -&gt; high value (~1.0)</a:t>
            </a:r>
          </a:p>
          <a:p>
            <a:pPr>
              <a:defRPr sz="1100">
                <a:latin typeface="Consolas"/>
              </a:defRPr>
            </a:pPr>
            <a:r>
              <a:t>    Far atoms -&gt; low value (~0.0)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Step C: Aggregate Per Residue</a:t>
            </a:r>
          </a:p>
          <a:p>
            <a:pPr>
              <a:defRPr sz="1100">
                <a:latin typeface="Consolas"/>
              </a:defRPr>
            </a:pPr>
            <a:r>
              <a:t>  ==============================</a:t>
            </a:r>
          </a:p>
          <a:p>
            <a:pPr>
              <a:defRPr sz="1100">
                <a:latin typeface="Consolas"/>
              </a:defRPr>
            </a:pPr>
            <a:r>
              <a:t>    NON-BONDED features: sum over ALL residues    -&gt; [L, 16]</a:t>
            </a:r>
          </a:p>
          <a:p>
            <a:pPr>
              <a:defRPr sz="1100">
                <a:latin typeface="Consolas"/>
              </a:defRPr>
            </a:pPr>
            <a:r>
              <a:t>    BONDED features:     sum over i+/-1 neighbors -&gt; [L, 32]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Step D: Concatenate Node Features</a:t>
            </a:r>
          </a:p>
          <a:p>
            <a:pPr>
              <a:defRPr sz="1100">
                <a:latin typeface="Consolas"/>
              </a:defRPr>
            </a:pPr>
            <a:r>
              <a:t>  ==================================</a:t>
            </a:r>
          </a:p>
          <a:p>
            <a:pPr>
              <a:defRPr sz="1100">
                <a:latin typeface="Consolas"/>
              </a:defRPr>
            </a:pPr>
            <a:r>
              <a:t>    Per residue: [bonded:32] + [non_bonded:16] + [ProtT5:1024] + [one_hot:20]</a:t>
            </a:r>
          </a:p>
          <a:p>
            <a:pPr>
              <a:defRPr sz="1100">
                <a:latin typeface="Consolas"/>
              </a:defRPr>
            </a:pPr>
            <a:r>
              <a:t>                 = 1092 dimensions total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  Final graph tensor: [1, seq_len, 1092]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Step 3: Folded vs Unfolded (Thermodynamics)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FOLDED graph (get_graph):</a:t>
            </a:r>
          </a:p>
          <a:p>
            <a:pPr>
              <a:defRPr sz="1400"/>
            </a:pPr>
            <a:r>
              <a:t>  Uses REAL PDB coordinates</a:t>
            </a:r>
          </a:p>
          <a:p>
            <a:pPr>
              <a:defRPr sz="1400"/>
            </a:pPr>
            <a:r>
              <a:t>  ALL pairwise distances computed (full contact map)</a:t>
            </a:r>
          </a:p>
          <a:p>
            <a:pPr>
              <a:defRPr sz="1400"/>
            </a:pPr>
            <a:r>
              <a:t>  Represents the properly folded, functional protein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UNFOLDED graph (get_unfolded_graph):</a:t>
            </a:r>
          </a:p>
          <a:p>
            <a:pPr>
              <a:defRPr sz="1400"/>
            </a:pPr>
            <a:r>
              <a:t>  Uses SAME coordinates but ZEROS everything except diagonal</a:t>
            </a:r>
          </a:p>
          <a:p>
            <a:pPr>
              <a:defRPr sz="1400"/>
            </a:pPr>
            <a:r>
              <a:t>  Only keeps contacts between sequential neighbors (i, i+/-1, i+/-2)</a:t>
            </a:r>
          </a:p>
          <a:p>
            <a:pPr>
              <a:defRPr sz="1400"/>
            </a:pPr>
            <a:r>
              <a:t>  Represents an extended/unfolded conformation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Why Two Graphs?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dG = E_unfolded - E_folded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If E_folded &lt; E_unfolded -&gt; protein PREFERS to fold (stable)</a:t>
            </a:r>
          </a:p>
          <a:p>
            <a:pPr>
              <a:defRPr sz="1400"/>
            </a:pPr>
            <a:r>
              <a:t>  If E_folded &gt; E_unfolded -&gt; protein PREFERS to unfold (unstable)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For Mutations:</a:t>
            </a:r>
          </a:p>
          <a:p>
            <a:pPr>
              <a:defRPr sz="1400"/>
            </a:pPr>
            <a:r>
              <a:t>  ddG = dG(mutant) - dG(wildtype)</a:t>
            </a:r>
          </a:p>
          <a:p>
            <a:pPr>
              <a:defRPr sz="1400"/>
            </a:pPr>
            <a:r>
              <a:t>  ddG &gt; 0 -&gt; destabilizing mutation</a:t>
            </a:r>
          </a:p>
          <a:p>
            <a:pPr>
              <a:defRPr sz="1400"/>
            </a:pPr>
            <a:r>
              <a:t>  ddG &lt; 0 -&gt; stabilizing mutation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Cost: Each mutation needs BOTH graphs = 2 forward passes</a:t>
            </a: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200 mutations * 2 = 400 forward passes per protein!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Step 4: Edge Construction (Two Types)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GCN Edges (Sequential / Peptide Chain):</a:t>
            </a:r>
          </a:p>
          <a:p>
            <a:pPr>
              <a:defRPr sz="1400"/>
            </a:pPr>
            <a:r>
              <a:t>  Connect residue i to residue i+1 only</a:t>
            </a:r>
          </a:p>
          <a:p>
            <a:pPr>
              <a:defRPr sz="1400"/>
            </a:pPr>
            <a:r>
              <a:t>  Shape: [2, L-1]</a:t>
            </a:r>
          </a:p>
          <a:p>
            <a:pPr>
              <a:defRPr sz="1400"/>
            </a:pPr>
            <a:r>
              <a:t>  Example (L=5): (0,1), (1,2), (2,3), (3,4)</a:t>
            </a:r>
          </a:p>
          <a:p>
            <a:pPr>
              <a:defRPr sz="1400"/>
            </a:pPr>
            <a:r>
              <a:t>  Captures: backbone connectivity, local sequence context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GAT Edges (Spatial / Structure-based):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Option A - Fully connected: every residue to every other</a:t>
            </a:r>
          </a:p>
          <a:p>
            <a:pPr>
              <a:defRPr sz="1400"/>
            </a:pPr>
            <a:r>
              <a:t>    Shape: [2, L*(L-1)]</a:t>
            </a:r>
          </a:p>
          <a:p>
            <a:pPr>
              <a:defRPr sz="1400"/>
            </a:pPr>
            <a:r>
              <a:t>    Problem: O(L^2) memory! OOM for proteins &gt; 200 residues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Option B - k-NN (k=30): each residue to 30 nearest CA atoms</a:t>
            </a:r>
          </a:p>
          <a:p>
            <a:pPr>
              <a:defRPr sz="1400"/>
            </a:pPr>
            <a:r>
              <a:t>    Shape: [2, ~30*L]</a:t>
            </a:r>
          </a:p>
          <a:p>
            <a:pPr>
              <a:defRPr sz="1400"/>
            </a:pPr>
            <a:r>
              <a:t>    Uses CA distance &lt; 12 Angstroms cutoff</a:t>
            </a:r>
          </a:p>
          <a:p>
            <a:pPr>
              <a:defRPr sz="1400"/>
            </a:pPr>
            <a:r>
              <a:t>    O(L) memory - much more efficient!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k-NN GAT gave +0.043 PCC improvement (BIGGEST single gain!)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Why Two Edge Types?</a:t>
            </a:r>
          </a:p>
          <a:p>
            <a:pPr>
              <a:defRPr sz="1400"/>
            </a:pPr>
            <a:r>
              <a:t>  GCN (sequential): local backbone geometry, chain connectivity</a:t>
            </a:r>
          </a:p>
          <a:p>
            <a:pPr>
              <a:defRPr sz="1400"/>
            </a:pPr>
            <a:r>
              <a:t>  GAT (spatial): 3D contacts between distant residues (tertiary structure)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Step 5: Dual GNN Backbone (GCN + GAT)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0080"/>
            <a:ext cx="1179576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nsolas"/>
              </a:defRPr>
            </a:pPr>
            <a:r>
              <a:t>  From 1092-dim input per residue, SPLIT into: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  x_gcn = [bonded:32] + [non_bonded:16] + [one_hot:20] = 52-dim</a:t>
            </a:r>
          </a:p>
          <a:p>
            <a:pPr>
              <a:defRPr sz="1100">
                <a:latin typeface="Consolas"/>
              </a:defRPr>
            </a:pPr>
            <a:r>
              <a:t>    x_gat = [non_bonded:16] + [one_hot:20]                = 36-dim</a:t>
            </a:r>
          </a:p>
          <a:p>
            <a:pPr>
              <a:defRPr sz="1100">
                <a:latin typeface="Consolas"/>
              </a:defRPr>
            </a:pPr>
            <a:r>
              <a:t>    x_emb = [ProtT5:1024]  (held aside or projected)</a:t>
            </a:r>
          </a:p>
          <a:p>
            <a:pPr>
              <a:defRPr sz="1100">
                <a:latin typeface="Consolas"/>
              </a:defRPr>
            </a:pPr>
          </a:p>
          <a:p>
            <a:pPr>
              <a:defRPr sz="1100">
                <a:latin typeface="Consolas"/>
              </a:defRPr>
            </a:pPr>
            <a:r>
              <a:t>  +------------------------------+     +------------------------------+</a:t>
            </a:r>
          </a:p>
          <a:p>
            <a:pPr>
              <a:defRPr sz="1100">
                <a:latin typeface="Consolas"/>
              </a:defRPr>
            </a:pPr>
            <a:r>
              <a:t>  |      GCN BRANCH              |     |      GAT BRANCH              |</a:t>
            </a:r>
          </a:p>
          <a:p>
            <a:pPr>
              <a:defRPr sz="1100">
                <a:latin typeface="Consolas"/>
              </a:defRPr>
            </a:pPr>
            <a:r>
              <a:t>  |      (Sequential edges)      |     |      (Spatial k-NN edges)    |</a:t>
            </a:r>
          </a:p>
          <a:p>
            <a:pPr>
              <a:defRPr sz="1100">
                <a:latin typeface="Consolas"/>
              </a:defRPr>
            </a:pPr>
            <a:r>
              <a:t>  |                              |     |                              |</a:t>
            </a:r>
          </a:p>
          <a:p>
            <a:pPr>
              <a:defRPr sz="1100">
                <a:latin typeface="Consolas"/>
              </a:defRPr>
            </a:pPr>
            <a:r>
              <a:t>  |  FC1: 52-&gt;64 + ReLU         |     |  FC1: 36-&gt;64 + ReLU         |</a:t>
            </a:r>
          </a:p>
          <a:p>
            <a:pPr>
              <a:defRPr sz="1100">
                <a:latin typeface="Consolas"/>
              </a:defRPr>
            </a:pPr>
            <a:r>
              <a:t>  |  FC2: 64-&gt;52                 |     |  FC2: 64-&gt;36                 |</a:t>
            </a:r>
          </a:p>
          <a:p>
            <a:pPr>
              <a:defRPr sz="1100">
                <a:latin typeface="Consolas"/>
              </a:defRPr>
            </a:pPr>
            <a:r>
              <a:t>  |  InstanceNorm                |     |  InstanceNorm                |</a:t>
            </a:r>
          </a:p>
          <a:p>
            <a:pPr>
              <a:defRPr sz="1100">
                <a:latin typeface="Consolas"/>
              </a:defRPr>
            </a:pPr>
            <a:r>
              <a:t>  |                              |     |                              |</a:t>
            </a:r>
          </a:p>
          <a:p>
            <a:pPr>
              <a:defRPr sz="1100">
                <a:latin typeface="Consolas"/>
              </a:defRPr>
            </a:pPr>
            <a:r>
              <a:t>  |  x3 GCN layers:             |     |  x3 GAT layers:             |</a:t>
            </a:r>
          </a:p>
          <a:p>
            <a:pPr>
              <a:defRPr sz="1100">
                <a:latin typeface="Consolas"/>
              </a:defRPr>
            </a:pPr>
            <a:r>
              <a:t>  |    GCNConv(52, 64)           |     |    GATv2Conv(36, 64, heads=8)|</a:t>
            </a:r>
          </a:p>
          <a:p>
            <a:pPr>
              <a:defRPr sz="1100">
                <a:latin typeface="Consolas"/>
              </a:defRPr>
            </a:pPr>
            <a:r>
              <a:t>  |    ReLU                      |     |    ELU                       |</a:t>
            </a:r>
          </a:p>
          <a:p>
            <a:pPr>
              <a:defRPr sz="1100">
                <a:latin typeface="Consolas"/>
              </a:defRPr>
            </a:pPr>
            <a:r>
              <a:t>  |    GCNConv(64, 52)           |     |    GATv2Conv(512, 36, heads=1)</a:t>
            </a:r>
          </a:p>
          <a:p>
            <a:pPr>
              <a:defRPr sz="1100">
                <a:latin typeface="Consolas"/>
              </a:defRPr>
            </a:pPr>
            <a:r>
              <a:t>  |    InstanceNorm              |     |    InstanceNorm              |</a:t>
            </a:r>
          </a:p>
          <a:p>
            <a:pPr>
              <a:defRPr sz="1100">
                <a:latin typeface="Consolas"/>
              </a:defRPr>
            </a:pPr>
            <a:r>
              <a:t>  |    + Residual connection     |     |    + Residual connection     |</a:t>
            </a:r>
          </a:p>
          <a:p>
            <a:pPr>
              <a:defRPr sz="1100">
                <a:latin typeface="Consolas"/>
              </a:defRPr>
            </a:pPr>
            <a:r>
              <a:t>  |                              |     |                              |</a:t>
            </a:r>
          </a:p>
          <a:p>
            <a:pPr>
              <a:defRPr sz="1100">
                <a:latin typeface="Consolas"/>
              </a:defRPr>
            </a:pPr>
            <a:r>
              <a:t>  |  Output: [B*L, 52]          |     |  Output: [B*L, 36]          |</a:t>
            </a:r>
          </a:p>
          <a:p>
            <a:pPr>
              <a:defRPr sz="1100">
                <a:latin typeface="Consolas"/>
              </a:defRPr>
            </a:pPr>
            <a:r>
              <a:t>  +------------------------------+     +------------------------------+</a:t>
            </a:r>
          </a:p>
          <a:p>
            <a:pPr>
              <a:defRPr sz="1100">
                <a:latin typeface="Consolas"/>
              </a:defRPr>
            </a:pPr>
            <a:r>
              <a:t>            |                                       |</a:t>
            </a:r>
          </a:p>
          <a:p>
            <a:pPr>
              <a:defRPr sz="1100">
                <a:latin typeface="Consolas"/>
              </a:defRPr>
            </a:pPr>
            <a:r>
              <a:t>            +-------------------+-------------------+</a:t>
            </a:r>
          </a:p>
          <a:p>
            <a:pPr>
              <a:defRPr sz="1100">
                <a:latin typeface="Consolas"/>
              </a:defRPr>
            </a:pPr>
            <a:r>
              <a:t>                                |</a:t>
            </a:r>
          </a:p>
          <a:p>
            <a:pPr>
              <a:defRPr sz="1100">
                <a:latin typeface="Consolas"/>
              </a:defRPr>
            </a:pPr>
            <a:r>
              <a:t>                                v</a:t>
            </a:r>
          </a:p>
          <a:p>
            <a:pPr>
              <a:defRPr sz="1100">
                <a:latin typeface="Consolas"/>
              </a:defRPr>
            </a:pPr>
            <a:r>
              <a:t>                    Concatenate: [B*L, 88]</a:t>
            </a:r>
          </a:p>
          <a:p>
            <a:pPr>
              <a:defRPr sz="1100">
                <a:latin typeface="Consolas"/>
              </a:defRPr>
            </a:pPr>
            <a:r>
              <a:t>                    InstanceNorm</a:t>
            </a:r>
          </a:p>
          <a:p>
            <a:pPr>
              <a:defRPr sz="1100">
                <a:latin typeface="Consolas"/>
              </a:defRPr>
            </a:pPr>
            <a:r>
              <a:t>                    + Append ProtT5 [1024] -&gt; [B*L, 1112]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Step 6-7: Light Attention + Output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Light Attention (learned importance weighting):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Reshape: [B*L, 1112] -&gt; [B, 1112, L]</a:t>
            </a:r>
          </a:p>
          <a:p>
            <a:pPr>
              <a:defRPr sz="1400"/>
            </a:pPr>
            <a:r>
              <a:t>  feature_conv = Conv1d(1112, 1112, kernel=9, pad=4)</a:t>
            </a:r>
          </a:p>
          <a:p>
            <a:pPr>
              <a:defRPr sz="1400"/>
            </a:pPr>
            <a:r>
              <a:t>  attention_conv = Conv1d(1112, 1112, kernel=9, pad=4)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output = feature_conv(x) * softmax(attention_conv(x))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Effect: Each residue re-weighted by 9-residue local context</a:t>
            </a:r>
          </a:p>
          <a:p>
            <a:pPr>
              <a:defRPr sz="1400"/>
            </a:pPr>
            <a:r>
              <a:t>  Important residues amplified, unimportant ones suppressed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Output Head (Energy Prediction):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FC1: 1112 -&gt; 128, ReLU</a:t>
            </a:r>
          </a:p>
          <a:p>
            <a:pPr>
              <a:defRPr sz="1400"/>
            </a:pPr>
            <a:r>
              <a:t>  FC2: 128 -&gt; 1  (per-residue energy scalar)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Reshape: [B*L, 1] -&gt; [B, L, 1]</a:t>
            </a:r>
          </a:p>
          <a:p>
            <a:pPr>
              <a:defRPr sz="1400"/>
            </a:pPr>
            <a:r>
              <a:t>  Energy = SUM over all residues: E = sum(energy[i])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Output: ONE scalar energy for the entire protein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Final Computation:</a:t>
            </a:r>
          </a:p>
          <a:p>
            <a:pPr>
              <a:defRPr sz="1400"/>
            </a:pPr>
            <a:r>
              <a:t>  dG = E_unfolded - E_folded</a:t>
            </a:r>
          </a:p>
          <a:p>
            <a:pPr>
              <a:defRPr sz="1400"/>
            </a:pPr>
            <a:r>
              <a:t>  ddG = dG(mutant) - dG(wildtype)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5C"/>
                </a:solidFill>
              </a:defRPr>
            </a:pPr>
            <a:r>
              <a:t>Complete End-to-End Data Flow (One Mutation)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0080"/>
            <a:ext cx="1179576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nsolas"/>
              </a:defRPr>
            </a:pPr>
            <a:r>
              <a:t>  coords [L,4,3] + one_hot_mut [L,20] + emb_mut [L,1024] + mask [L]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          get_graph() -&gt; [1, L, 1092]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+----------+-----------+</a:t>
            </a:r>
          </a:p>
          <a:p>
            <a:pPr>
              <a:defRPr sz="1000">
                <a:latin typeface="Consolas"/>
              </a:defRPr>
            </a:pPr>
            <a:r>
              <a:t>                         |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v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+-------------+        +-------------+</a:t>
            </a:r>
          </a:p>
          <a:p>
            <a:pPr>
              <a:defRPr sz="1000">
                <a:latin typeface="Consolas"/>
              </a:defRPr>
            </a:pPr>
            <a:r>
              <a:t>                  | x_gcn [L,52]|        | x_gat [L,36]|    x_emb [L,1024]</a:t>
            </a:r>
          </a:p>
          <a:p>
            <a:pPr>
              <a:defRPr sz="1000">
                <a:latin typeface="Consolas"/>
              </a:defRPr>
            </a:pPr>
            <a:r>
              <a:t>                  +------+------+        +------+------+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|                      |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v                      v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+-------------+        +-------------+         |</a:t>
            </a:r>
          </a:p>
          <a:p>
            <a:pPr>
              <a:defRPr sz="1000">
                <a:latin typeface="Consolas"/>
              </a:defRPr>
            </a:pPr>
            <a:r>
              <a:t>                  | 3x GCNConv  |        | 3x GATv2Conv|         |</a:t>
            </a:r>
          </a:p>
          <a:p>
            <a:pPr>
              <a:defRPr sz="1000">
                <a:latin typeface="Consolas"/>
              </a:defRPr>
            </a:pPr>
            <a:r>
              <a:t>                  | (seq edges) |        | (k-NN edges)|         |</a:t>
            </a:r>
          </a:p>
          <a:p>
            <a:pPr>
              <a:defRPr sz="1000">
                <a:latin typeface="Consolas"/>
              </a:defRPr>
            </a:pPr>
            <a:r>
              <a:t>                  | -&gt; [L, 52]  |        | -&gt; [L, 36]  |         |</a:t>
            </a:r>
          </a:p>
          <a:p>
            <a:pPr>
              <a:defRPr sz="1000">
                <a:latin typeface="Consolas"/>
              </a:defRPr>
            </a:pPr>
            <a:r>
              <a:t>                  +------+------+        +------+------+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|                      |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+----------+-----------+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Concat: [L, 88] &lt;-------------------+</a:t>
            </a:r>
          </a:p>
          <a:p>
            <a:pPr>
              <a:defRPr sz="1000">
                <a:latin typeface="Consolas"/>
              </a:defRPr>
            </a:pPr>
            <a:r>
              <a:t>                            + x_emb = [L, 1112]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          Light Attention (Conv1d x2)</a:t>
            </a:r>
          </a:p>
          <a:p>
            <a:pPr>
              <a:defRPr sz="1000">
                <a:latin typeface="Consolas"/>
              </a:defRPr>
            </a:pPr>
            <a:r>
              <a:t>                            -&gt; [L, 1112]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          FC1: 1112-&gt;128, ReLU</a:t>
            </a:r>
          </a:p>
          <a:p>
            <a:pPr>
              <a:defRPr sz="1000">
                <a:latin typeface="Consolas"/>
              </a:defRPr>
            </a:pPr>
            <a:r>
              <a:t>                            FC2: 128-&gt;1</a:t>
            </a:r>
          </a:p>
          <a:p>
            <a:pPr>
              <a:defRPr sz="1000">
                <a:latin typeface="Consolas"/>
              </a:defRPr>
            </a:pPr>
            <a:r>
              <a:t>                            -&gt; [L, 1] per-residue energies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          SUM -&gt; E (scalar energy)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+----------------+----------------+</a:t>
            </a:r>
          </a:p>
          <a:p>
            <a:pPr>
              <a:defRPr sz="1000">
                <a:latin typeface="Consolas"/>
              </a:defRPr>
            </a:pPr>
            <a:r>
              <a:t>                   |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E_folded                          E_unfolded</a:t>
            </a:r>
          </a:p>
          <a:p>
            <a:pPr>
              <a:defRPr sz="1000">
                <a:latin typeface="Consolas"/>
              </a:defRPr>
            </a:pPr>
            <a:r>
              <a:t>             (from folded graph)               (from unfolded graph)</a:t>
            </a:r>
          </a:p>
          <a:p>
            <a:pPr>
              <a:defRPr sz="1000">
                <a:latin typeface="Consolas"/>
              </a:defRPr>
            </a:pPr>
            <a:r>
              <a:t>                   |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+----------------+----------------+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|</a:t>
            </a:r>
          </a:p>
          <a:p>
            <a:pPr>
              <a:defRPr sz="1000">
                <a:latin typeface="Consolas"/>
              </a:defRPr>
            </a:pPr>
            <a:r>
              <a:t>                                    v</a:t>
            </a:r>
          </a:p>
          <a:p>
            <a:pPr>
              <a:defRPr sz="1000">
                <a:latin typeface="Consolas"/>
              </a:defRPr>
            </a:pPr>
            <a:r>
              <a:t>                          dG = E_unfolded - E_folded</a:t>
            </a:r>
          </a:p>
          <a:p>
            <a:pPr>
              <a:defRPr sz="1000">
                <a:latin typeface="Consolas"/>
              </a:defRPr>
            </a:pPr>
            <a:r>
              <a:t>                          ddG = dG_mut - dG_wt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Step 8: Training Loop (The Expensive Part)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Three nested loops: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FOR each epoch (15 total):</a:t>
            </a:r>
          </a:p>
          <a:p>
            <a:pPr>
              <a:defRPr sz="1400"/>
            </a:pPr>
            <a:r>
              <a:t>    FOR each protein (340 train proteins, 1 at a time):</a:t>
            </a:r>
          </a:p>
          <a:p>
            <a:pPr>
              <a:defRPr sz="1400"/>
            </a:pPr>
            <a:r>
              <a:t>      FOR each mini-batch of 64 mutations: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      1. Build 64 FOLDED graphs (real structure + mutant embedding)</a:t>
            </a:r>
          </a:p>
          <a:p>
            <a:pPr>
              <a:defRPr sz="1400"/>
            </a:pPr>
            <a:r>
              <a:t>        2. Build 64 UNFOLDED graphs (diagonal-only + mutant embedding)</a:t>
            </a:r>
          </a:p>
          <a:p>
            <a:pPr>
              <a:defRPr sz="1400"/>
            </a:pPr>
            <a:r>
              <a:t>        3. Stack into [128, seq_len, 1092]</a:t>
            </a:r>
          </a:p>
          <a:p>
            <a:pPr>
              <a:defRPr sz="1400"/>
            </a:pPr>
            <a:r>
              <a:t>        4. Forward pass through PEM -&gt; 128 energies</a:t>
            </a:r>
          </a:p>
          <a:p>
            <a:pPr>
              <a:defRPr sz="1400"/>
            </a:pPr>
            <a:r>
              <a:t>        5. Split: E_folded (first 64), E_unfolded (last 64)</a:t>
            </a:r>
          </a:p>
          <a:p>
            <a:pPr>
              <a:defRPr sz="1400"/>
            </a:pPr>
            <a:r>
              <a:t>        6. dG_pred = E_unfolded - E_folded -&gt; 64 values</a:t>
            </a:r>
          </a:p>
          <a:p>
            <a:pPr>
              <a:defRPr sz="1400"/>
            </a:pPr>
            <a:r>
              <a:t>        7. Loss = Huber(dG_pred, dG_true) + 0.1*RankingLoss + EnergyReg</a:t>
            </a:r>
          </a:p>
          <a:p>
            <a:pPr>
              <a:defRPr sz="1400"/>
            </a:pPr>
            <a:r>
              <a:t>        8. Backward + optimizer step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Total forward passes per epoch:</a:t>
            </a:r>
          </a:p>
          <a:p>
            <a:pPr>
              <a:defRPr sz="1400"/>
            </a:pPr>
            <a:r>
              <a:t>   340 proteins * ~200 muts * 2 (fold+unfold) = ~136,000 passes!</a:t>
            </a:r>
          </a:p>
          <a:p>
            <a:pPr>
              <a:defRPr sz="1400"/>
            </a:pPr>
            <a:r>
              <a:t>   x 15 epochs = 2,040,000 total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Evaluation: Pearson correlation (PCC) on 28 test proteins</a:t>
            </a: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Best achieved: PCC = 0.5259</a:t>
            </a: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Target: PCC &gt;= 0.70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Optional: Embedding Projection (emb_projection)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Problem: 1024-dim ProtT5 is concatenated AFTER the GNN</a:t>
            </a:r>
          </a:p>
          <a:p>
            <a:pPr>
              <a:defRPr sz="1400"/>
            </a:pPr>
            <a:r>
              <a:t>  The GNN never sees the PLM features during message passing!</a:t>
            </a:r>
          </a:p>
          <a:p>
            <a:pPr>
              <a:defRPr sz="1400"/>
            </a:pPr>
            <a:r>
              <a:t>  It only uses distance geometry (52/36 dim) for graph operations.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Solution: Project embeddings INTO the GNN input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emb_projection="none" (current default):</a:t>
            </a:r>
          </a:p>
          <a:p>
            <a:pPr>
              <a:defRPr sz="1400"/>
            </a:pPr>
            <a:r>
              <a:t>    GNN input: 52/36 dim (distance + one_hot only)</a:t>
            </a:r>
          </a:p>
          <a:p>
            <a:pPr>
              <a:defRPr sz="1400"/>
            </a:pPr>
            <a:r>
              <a:t>    ProtT5 concatenated AFTER GNN: [88 + 1024 = 1112]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emb_projection="mlp" (alternative):</a:t>
            </a:r>
          </a:p>
          <a:p>
            <a:pPr>
              <a:defRPr sz="1400"/>
            </a:pPr>
            <a:r>
              <a:t>    MLP: 1024 -&gt; 128 -&gt; 16 dim</a:t>
            </a:r>
          </a:p>
          <a:p>
            <a:pPr>
              <a:defRPr sz="1400"/>
            </a:pPr>
            <a:r>
              <a:t>    GNN input: 52+16=68 / 36+16=52 dim (with projected emb)</a:t>
            </a:r>
          </a:p>
          <a:p>
            <a:pPr>
              <a:defRPr sz="1400"/>
            </a:pPr>
            <a:r>
              <a:t>    ProtT5 NOT concatenated after (already inside GNN)</a:t>
            </a:r>
          </a:p>
          <a:p>
            <a:pPr>
              <a:defRPr sz="1400"/>
            </a:pPr>
            <a:r>
              <a:t>    Final: [104] (much smaller, fits more in memory)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Trade-off:</a:t>
            </a:r>
          </a:p>
          <a:p>
            <a:pPr>
              <a:defRPr sz="1400"/>
            </a:pPr>
            <a:r>
              <a:t>  "none": GNN does not learn from embeddings, but full info preserved</a:t>
            </a:r>
          </a:p>
          <a:p>
            <a:pPr>
              <a:defRPr sz="1400"/>
            </a:pPr>
            <a:r>
              <a:t>  "mlp":  GNN learns from embeddings, but info compressed 1024-&gt;16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The "mlp" option was NEVER TESTED despite being implemented!</a:t>
            </a: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This is one of the untried approaches with high probability.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Your Suggestion: Change the Flow (Embeddings First)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Your idea: "Do the embeddings FIRST, train the one-hot WITH embeddings"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What this means in the architecture: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CURRENT FLOW:</a:t>
            </a:r>
          </a:p>
          <a:p>
            <a:pPr>
              <a:defRPr sz="1400"/>
            </a:pPr>
            <a:r>
              <a:t>    1. Build graph with distances + one_hot (52/36 dim)</a:t>
            </a:r>
          </a:p>
          <a:p>
            <a:pPr>
              <a:defRPr sz="1400"/>
            </a:pPr>
            <a:r>
              <a:t>    2. GNN processes these small features</a:t>
            </a:r>
          </a:p>
          <a:p>
            <a:pPr>
              <a:defRPr sz="1400"/>
            </a:pPr>
            <a:r>
              <a:t>    3. THEN append ProtT5 embeddings after GNN (post-hoc)</a:t>
            </a:r>
          </a:p>
          <a:p>
            <a:pPr>
              <a:defRPr sz="1400"/>
            </a:pPr>
            <a:r>
              <a:t>    =&gt; The GNN never learns from the rich PLM features!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  YOUR SUGGESTED FLOW:</a:t>
            </a:r>
          </a:p>
          <a:p>
            <a:pPr>
              <a:defRPr sz="1400"/>
            </a:pPr>
            <a:r>
              <a:t>    1. Start with embeddings [L, 1024] as the PRIMARY input</a:t>
            </a:r>
          </a:p>
          <a:p>
            <a:pPr>
              <a:defRPr sz="1400"/>
            </a:pPr>
            <a:r>
              <a:t>    2. Combine one_hot [L, 20] INTO the embeddings (train together)</a:t>
            </a:r>
          </a:p>
          <a:p>
            <a:pPr>
              <a:defRPr sz="1400"/>
            </a:pPr>
            <a:r>
              <a:t>    3. Feed this combined representation [L, 1044] to the GNN</a:t>
            </a:r>
          </a:p>
          <a:p>
            <a:pPr>
              <a:defRPr sz="1400"/>
            </a:pPr>
            <a:r>
              <a:t>    4. Let the GNN propagate embedding info through the graph</a:t>
            </a:r>
          </a:p>
          <a:p>
            <a:pPr>
              <a:defRPr sz="1400"/>
            </a:pPr>
            <a:r>
              <a:t>    =&gt; GNN learns from BOTH structure AND sequence at every layer!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This is essentially "serial fusion" (suggestion #15)</a:t>
            </a:r>
          </a:p>
          <a:p>
            <a:pPr>
              <a:defRPr sz="1400"/>
            </a:pPr>
            <a:r>
              <a:t>   Also related to emb_projection="mlp" (puts embeddings inside GNN)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Why this could work:</a:t>
            </a:r>
          </a:p>
          <a:p>
            <a:pPr>
              <a:defRPr sz="1400"/>
            </a:pPr>
            <a:r>
              <a:t>  - PLM knows which amino acids are compatible (evolutionary signal)</a:t>
            </a:r>
          </a:p>
          <a:p>
            <a:pPr>
              <a:defRPr sz="1400"/>
            </a:pPr>
            <a:r>
              <a:t>  - GNN knows spatial context (structural signal)</a:t>
            </a:r>
          </a:p>
          <a:p>
            <a:pPr>
              <a:defRPr sz="1400"/>
            </a:pPr>
            <a:r>
              <a:t>  - Combined INSIDE GNN = both signals interact during message passing</a:t>
            </a:r>
          </a:p>
          <a:p>
            <a:pPr>
              <a:defRPr sz="1400"/>
            </a:pPr>
            <a:r>
              <a:t>  - Currently they do not interact until AFTER all GNN layers are done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CC0000"/>
                </a:solidFill>
              </a:defRPr>
            </a:pPr>
            <a:r>
              <a:t>NEVER TRIED - high probability of improvement!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</a:defRPr>
            </a:pPr>
            <a:r>
              <a:t>Summary: Key Numbers and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6699"/>
                </a:solidFill>
              </a:defRPr>
            </a:pPr>
            <a:r>
              <a:t>Model Size:</a:t>
            </a:r>
          </a:p>
          <a:p>
            <a:pPr>
              <a:defRPr sz="1400"/>
            </a:pPr>
            <a:r>
              <a:t>  ~22M parameters (with projection "none")</a:t>
            </a:r>
          </a:p>
          <a:p>
            <a:pPr>
              <a:defRPr sz="1400"/>
            </a:pPr>
            <a:r>
              <a:t>  ~700K parameters (with projection "mlp")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Input Dimensions:</a:t>
            </a:r>
          </a:p>
          <a:p>
            <a:pPr>
              <a:defRPr sz="1400"/>
            </a:pPr>
            <a:r>
              <a:t>  Per residue: 1092 (32 bonded + 16 non-bonded + 1024 ProtT5 + 20 one-hot)</a:t>
            </a:r>
          </a:p>
          <a:p>
            <a:pPr>
              <a:defRPr sz="1400"/>
            </a:pPr>
            <a:r>
              <a:t>  With ESM-IF1: 1604 (add 512 structural features)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GNN Components:</a:t>
            </a:r>
          </a:p>
          <a:p>
            <a:pPr>
              <a:defRPr sz="1400"/>
            </a:pPr>
            <a:r>
              <a:t>  3 GCN layers (52-&gt;64-&gt;52, sequential edges)</a:t>
            </a:r>
          </a:p>
          <a:p>
            <a:pPr>
              <a:defRPr sz="1400"/>
            </a:pPr>
            <a:r>
              <a:t>  3 GAT layers (36-&gt;64-&gt;36, 8-head attention, k-NN edges)</a:t>
            </a:r>
          </a:p>
          <a:p>
            <a:pPr>
              <a:defRPr sz="1400"/>
            </a:pPr>
            <a:r>
              <a:t>  Light Attention (Conv1d kernel=9)</a:t>
            </a:r>
          </a:p>
          <a:p>
            <a:pPr>
              <a:defRPr sz="1400"/>
            </a:pPr>
            <a:r>
              <a:t>  Output: FC(1112-&gt;128-&gt;1)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Training:</a:t>
            </a:r>
          </a:p>
          <a:p>
            <a:pPr>
              <a:defRPr sz="1400"/>
            </a:pPr>
            <a:r>
              <a:t>  340 train proteins, 28 test proteins</a:t>
            </a:r>
          </a:p>
          <a:p>
            <a:pPr>
              <a:defRPr sz="1400"/>
            </a:pPr>
            <a:r>
              <a:t>  ~68,000 mutations total</a:t>
            </a:r>
          </a:p>
          <a:p>
            <a:pPr>
              <a:defRPr sz="1400"/>
            </a:pPr>
            <a:r>
              <a:t>  Mini-batch: 64 mutations per protein</a:t>
            </a:r>
          </a:p>
          <a:p>
            <a:pPr>
              <a:defRPr sz="1400"/>
            </a:pPr>
            <a:r>
              <a:t>  Optimizer: Adam (lr=1e-4, wd=1e-5, cosine schedule)</a:t>
            </a:r>
          </a:p>
          <a:p>
            <a:pPr>
              <a:defRPr sz="1400"/>
            </a:pPr>
            <a:r>
              <a:t>  Loss: Huber + 0.1*RankingLoss</a:t>
            </a:r>
          </a:p>
          <a:p>
            <a:pPr>
              <a:defRPr sz="1400"/>
            </a:pP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Best Result: PCC = 0.5259 (target: 0.70)</a:t>
            </a:r>
          </a:p>
          <a:p>
            <a:pPr>
              <a:defRPr b="1" sz="1400">
                <a:solidFill>
                  <a:srgbClr val="006699"/>
                </a:solidFill>
              </a:defRPr>
            </a:pPr>
            <a:r>
              <a:t>ThermoMPNN (state of art): PCC = 0.754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